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282" r:id="rId6"/>
    <p:sldId id="314" r:id="rId7"/>
    <p:sldId id="323" r:id="rId8"/>
    <p:sldId id="315" r:id="rId9"/>
    <p:sldId id="317" r:id="rId10"/>
    <p:sldId id="318" r:id="rId11"/>
    <p:sldId id="319" r:id="rId12"/>
    <p:sldId id="321" r:id="rId13"/>
    <p:sldId id="297" r:id="rId14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834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FE2E-3BD7-11B0-8BF6-32A204EB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A4F2DB-F950-ACBC-CCA2-7D6A7A995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B6876E-4459-BB44-9856-DFEF089D6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698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4996" y="1047971"/>
            <a:ext cx="6922008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/>
              <a:t>Анализ и сегментация клиентов с помощью алгоритмов кластеризации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2A143-B065-F4B3-018A-1002D5E4A378}"/>
              </a:ext>
            </a:extLst>
          </p:cNvPr>
          <p:cNvSpPr txBox="1"/>
          <p:nvPr/>
        </p:nvSpPr>
        <p:spPr>
          <a:xfrm>
            <a:off x="3712464" y="3739896"/>
            <a:ext cx="4846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j-lt"/>
              </a:rPr>
              <a:t>Боднар Дарья Станиславовна</a:t>
            </a:r>
          </a:p>
          <a:p>
            <a:pPr algn="ctr"/>
            <a:r>
              <a:rPr lang="ru-RU" dirty="0">
                <a:latin typeface="+mj-lt"/>
              </a:rPr>
              <a:t>2024-ФГиИБ-ПИ-1б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800" b="1" dirty="0"/>
              <a:t>Цель: </a:t>
            </a:r>
            <a:r>
              <a:rPr lang="ru-RU" i="1" dirty="0"/>
              <a:t>Разработать систему сегментации клиентов розничной компании с использованием алгоритмов кластеризации.</a:t>
            </a:r>
          </a:p>
          <a:p>
            <a:pPr marL="0" indent="0">
              <a:buNone/>
            </a:pPr>
            <a:r>
              <a:rPr lang="ru-RU" sz="2800" b="1" dirty="0"/>
              <a:t>Задачи: </a:t>
            </a:r>
          </a:p>
          <a:p>
            <a:pPr>
              <a:buFont typeface="+mj-lt"/>
              <a:buAutoNum type="arabicPeriod"/>
            </a:pPr>
            <a:r>
              <a:rPr lang="ru-RU" dirty="0"/>
              <a:t>Сбор и анализ данных </a:t>
            </a:r>
          </a:p>
          <a:p>
            <a:pPr>
              <a:buFont typeface="+mj-lt"/>
              <a:buAutoNum type="arabicPeriod"/>
            </a:pPr>
            <a:r>
              <a:rPr lang="ru-RU" dirty="0"/>
              <a:t> Предобработка данных и RFM-анализ 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Применение алгоритмов кластеризации </a:t>
            </a:r>
          </a:p>
          <a:p>
            <a:pPr>
              <a:buFont typeface="+mj-lt"/>
              <a:buAutoNum type="arabicPeriod"/>
            </a:pPr>
            <a:r>
              <a:rPr lang="ru-RU" dirty="0"/>
              <a:t> Оценка качества кластеризации </a:t>
            </a:r>
          </a:p>
          <a:p>
            <a:pPr>
              <a:buFont typeface="+mj-lt"/>
              <a:buAutoNum type="arabicPeriod"/>
            </a:pPr>
            <a:r>
              <a:rPr lang="ru-RU" dirty="0"/>
              <a:t>Визуализация и интерпретация результатов </a:t>
            </a:r>
          </a:p>
          <a:p>
            <a:pPr>
              <a:buFont typeface="+mj-lt"/>
              <a:buAutoNum type="arabicPeriod"/>
            </a:pPr>
            <a:r>
              <a:rPr lang="ru-RU" dirty="0"/>
              <a:t>Формирование бизнес-рекомендаций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334898"/>
            <a:ext cx="5885180" cy="252021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Описание датасета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260110"/>
            <a:ext cx="7043618" cy="2233233"/>
          </a:xfrm>
        </p:spPr>
        <p:txBody>
          <a:bodyPr rtlCol="0">
            <a:normAutofit fontScale="70000" lnSpcReduction="20000"/>
          </a:bodyPr>
          <a:lstStyle>
            <a:defPPr>
              <a:defRPr lang="ru-RU"/>
            </a:defPPr>
          </a:lstStyle>
          <a:p>
            <a:r>
              <a:rPr lang="ru-RU" sz="3600" b="1" dirty="0"/>
              <a:t>Датасет: </a:t>
            </a:r>
            <a:r>
              <a:rPr lang="en-US" dirty="0"/>
              <a:t>Online Retail II (UCI Machine Learning Repository)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Период: декабрь 2009 – декабрь 2010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Количество транзакций: ~525 000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Количество уникальных клиентов: ~4 383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Ключевые поля: </a:t>
            </a:r>
            <a:r>
              <a:rPr lang="en-US" dirty="0" err="1"/>
              <a:t>CustomerID</a:t>
            </a:r>
            <a:r>
              <a:rPr lang="en-US" dirty="0"/>
              <a:t>, </a:t>
            </a:r>
            <a:r>
              <a:rPr lang="en-US" dirty="0" err="1"/>
              <a:t>InvoiceDate</a:t>
            </a:r>
            <a:r>
              <a:rPr lang="en-US" dirty="0"/>
              <a:t>, Quantity, Price, Country</a:t>
            </a:r>
            <a:endParaRPr lang="ru-RU" dirty="0"/>
          </a:p>
          <a:p>
            <a:endParaRPr lang="en-US" dirty="0"/>
          </a:p>
          <a:p>
            <a:r>
              <a:rPr lang="ru-RU" sz="3600" dirty="0"/>
              <a:t>Особенность: </a:t>
            </a:r>
            <a:r>
              <a:rPr lang="ru-RU" i="1" dirty="0"/>
              <a:t>Реальные данные интернет-магазина (Великобритания)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3B501-D14A-836A-99A0-0211A800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5560B-39B4-9A6A-A7C0-461F5B7B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pPr>
              <a:lnSpc>
                <a:spcPct val="90000"/>
              </a:lnSpc>
            </a:pPr>
            <a:r>
              <a:rPr lang="ru-RU" dirty="0"/>
              <a:t>Первичный анализ данных (</a:t>
            </a:r>
            <a:r>
              <a:rPr lang="en-US" dirty="0"/>
              <a:t>EDA)</a:t>
            </a:r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C868BF-3A81-C074-CD3E-55B0FD62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pPr rtl="0"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ru-RU" sz="11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ru-RU" sz="11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86EA46E-3301-E481-D776-5AD590405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9348" y="2377440"/>
            <a:ext cx="3932237" cy="3567086"/>
          </a:xfrm>
        </p:spPr>
        <p:txBody>
          <a:bodyPr/>
          <a:lstStyle/>
          <a:p>
            <a:r>
              <a:rPr lang="ru-RU" b="1" dirty="0"/>
              <a:t>Сильно скошенное распределение числа заказов на клиента</a:t>
            </a:r>
            <a:r>
              <a:rPr lang="ru-RU" dirty="0"/>
              <a:t> (среднее 5,36, медиана 3, максимум 267)</a:t>
            </a:r>
          </a:p>
          <a:p>
            <a:r>
              <a:rPr lang="ru-RU" b="1" dirty="0"/>
              <a:t>Выручка равномерно распределена между тысячами товаров</a:t>
            </a:r>
            <a:r>
              <a:rPr lang="ru-RU" dirty="0"/>
              <a:t> (топ‑5 приносят &lt;6% от общего объёма)</a:t>
            </a:r>
          </a:p>
          <a:p>
            <a:r>
              <a:rPr lang="ru-RU" b="1" dirty="0"/>
              <a:t>Большинство клиентов совершают 1–3 покупки</a:t>
            </a:r>
            <a:r>
              <a:rPr lang="ru-RU" dirty="0"/>
              <a:t> (25% клиентов — только 1 заказ, 75% — до 6 заказов)</a:t>
            </a:r>
          </a:p>
          <a:p>
            <a:r>
              <a:rPr lang="ru-RU" b="1" dirty="0"/>
              <a:t>Присутствуют аномально активные клиенты</a:t>
            </a:r>
            <a:r>
              <a:rPr lang="ru-RU" dirty="0"/>
              <a:t> (до 267 заказов, что создаёт «длинный хвост»)</a:t>
            </a:r>
          </a:p>
          <a:p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721535-F7F0-BFC6-B05A-D0745917F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585" y="1261872"/>
            <a:ext cx="6703897" cy="40558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378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38" y="1444947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Предобработка данных</a:t>
            </a:r>
            <a:br>
              <a:rPr lang="ru-RU" dirty="0"/>
            </a:br>
            <a:r>
              <a:rPr lang="ru-RU" dirty="0"/>
              <a:t>Определение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192" y="2499153"/>
            <a:ext cx="3727269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i="1" dirty="0"/>
              <a:t>Выполненные действия: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Удалены пропуски в `</a:t>
            </a:r>
            <a:r>
              <a:rPr lang="ru-RU" dirty="0" err="1"/>
              <a:t>CustomerID</a:t>
            </a:r>
            <a:r>
              <a:rPr lang="ru-RU" dirty="0"/>
              <a:t>`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Удалены возвраты и некорректные цены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Создан RFM-анализ (</a:t>
            </a:r>
            <a:r>
              <a:rPr lang="ru-RU" dirty="0" err="1"/>
              <a:t>Recency</a:t>
            </a:r>
            <a:r>
              <a:rPr lang="ru-RU" dirty="0"/>
              <a:t>, Frequency, </a:t>
            </a:r>
            <a:r>
              <a:rPr lang="ru-RU" dirty="0" err="1"/>
              <a:t>Monetary</a:t>
            </a:r>
            <a:r>
              <a:rPr lang="ru-RU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Выполнено масштабирование признаков (`</a:t>
            </a:r>
            <a:r>
              <a:rPr lang="ru-RU" dirty="0" err="1"/>
              <a:t>StandardScaler</a:t>
            </a:r>
            <a:r>
              <a:rPr lang="ru-RU" dirty="0"/>
              <a:t>`)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54307" y="2486227"/>
            <a:ext cx="3665155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i="1" dirty="0"/>
              <a:t>Методы: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 Метод локтя (</a:t>
            </a:r>
            <a:r>
              <a:rPr lang="ru-RU" dirty="0" err="1"/>
              <a:t>Elbow</a:t>
            </a:r>
            <a:r>
              <a:rPr lang="ru-RU" dirty="0"/>
              <a:t> </a:t>
            </a:r>
            <a:r>
              <a:rPr lang="ru-RU" dirty="0" err="1"/>
              <a:t>Method</a:t>
            </a:r>
            <a:r>
              <a:rPr lang="ru-RU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 Коэффициент силуэта (</a:t>
            </a:r>
            <a:r>
              <a:rPr lang="ru-RU" dirty="0" err="1"/>
              <a:t>Silhouette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)</a:t>
            </a:r>
          </a:p>
          <a:p>
            <a:r>
              <a:rPr lang="ru-RU" u="sng" dirty="0"/>
              <a:t>Вывод: Оптимальное количество кластеров = 4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0ED99F-C0FB-F5AF-5A53-F65621849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730" y="3708612"/>
            <a:ext cx="3437984" cy="306018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256EE1-38D2-979C-D2B2-4B231D175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730" y="928687"/>
            <a:ext cx="3437984" cy="284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1744634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000" dirty="0"/>
              <a:t>Визуализация кластеров</a:t>
            </a:r>
            <a:br>
              <a:rPr lang="ru-RU" sz="4000" dirty="0"/>
            </a:br>
            <a:endParaRPr lang="ru-RU" dirty="0"/>
          </a:p>
        </p:txBody>
      </p:sp>
      <p:sp>
        <p:nvSpPr>
          <p:cNvPr id="14" name="Объект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3831" y="3101499"/>
            <a:ext cx="3492137" cy="414337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Применён</a:t>
            </a:r>
            <a:r>
              <a:rPr lang="ru-RU" b="1" dirty="0"/>
              <a:t> </a:t>
            </a:r>
            <a:r>
              <a:rPr lang="ru-RU" dirty="0"/>
              <a:t>алгоритм снижения размерности: t-SNE</a:t>
            </a:r>
          </a:p>
          <a:p>
            <a:r>
              <a:rPr lang="ru-RU" u="sng" dirty="0"/>
              <a:t>Вывод: Кластеры хорошо разделимы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3266FB3-0588-B973-69BE-72909B103F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315968" y="1744634"/>
            <a:ext cx="7736617" cy="467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89547"/>
            <a:ext cx="7843837" cy="10127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Оценка качества кластеризации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927036"/>
            <a:ext cx="6714309" cy="372181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i="1" dirty="0"/>
              <a:t>Внутренние метрики: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Silhouette Score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Davies-Bouldin Index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Calinski-Harabasz</a:t>
            </a:r>
            <a:r>
              <a:rPr lang="en-US" dirty="0"/>
              <a:t> Index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0A539D-4232-2265-B31F-0F3427B11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019" y="2633472"/>
            <a:ext cx="7247669" cy="242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928688"/>
            <a:ext cx="9875463" cy="999746"/>
          </a:xfrm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Описание сегментов клиентов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F89AA5-DB48-46DF-489B-3C27BAE49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47" y="2185606"/>
            <a:ext cx="7292024" cy="3299641"/>
          </a:xfrm>
          <a:prstGeom prst="rect">
            <a:avLst/>
          </a:prstGeom>
          <a:noFill/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19872" y="2303029"/>
            <a:ext cx="3306154" cy="369543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buFont typeface="+mj-lt"/>
              <a:buAutoNum type="arabicPeriod"/>
            </a:pPr>
            <a:r>
              <a:rPr lang="ru-RU" dirty="0"/>
              <a:t>Выделено 4 сегмента:</a:t>
            </a:r>
          </a:p>
          <a:p>
            <a:pPr>
              <a:buFont typeface="+mj-lt"/>
              <a:buAutoNum type="arabicPeriod"/>
            </a:pPr>
            <a:r>
              <a:rPr lang="ru-RU" dirty="0"/>
              <a:t>Лояльные средние (основа базы)</a:t>
            </a:r>
          </a:p>
          <a:p>
            <a:pPr>
              <a:buFont typeface="+mj-lt"/>
              <a:buAutoNum type="arabicPeriod"/>
            </a:pPr>
            <a:r>
              <a:rPr lang="ru-RU" dirty="0"/>
              <a:t>Перспективные (высокий риск оттока)</a:t>
            </a:r>
          </a:p>
          <a:p>
            <a:pPr>
              <a:buFont typeface="+mj-lt"/>
              <a:buAutoNum type="arabicPeriod"/>
            </a:pPr>
            <a:r>
              <a:rPr lang="ru-RU" dirty="0"/>
              <a:t>VIP-оптовики (ключевые по выручке)</a:t>
            </a:r>
          </a:p>
          <a:p>
            <a:pPr>
              <a:buFont typeface="+mj-lt"/>
              <a:buAutoNum type="arabicPeriod"/>
            </a:pPr>
            <a:r>
              <a:rPr lang="ru-RU" dirty="0"/>
              <a:t>Активные крупные (частые высокие чеки)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pPr rtl="0">
              <a:spcAft>
                <a:spcPts val="600"/>
              </a:spcAft>
            </a:pPr>
            <a:fld id="{48F63A3B-78C7-47BE-AE5E-E10140E04643}" type="slidenum">
              <a:rPr lang="ru-RU" smtClean="0"/>
              <a:pPr rtl="0">
                <a:spcAft>
                  <a:spcPts val="600"/>
                </a:spcAft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Бизнес-рекомендации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buFont typeface="+mj-lt"/>
              <a:buAutoNum type="arabicPeriod"/>
            </a:pPr>
            <a:r>
              <a:rPr lang="ru-RU" dirty="0"/>
              <a:t>Внедрить бонусную программу для кластера 0 и 3.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Настроить автоматические </a:t>
            </a:r>
            <a:r>
              <a:rPr lang="ru-RU" dirty="0" err="1"/>
              <a:t>email</a:t>
            </a:r>
            <a:r>
              <a:rPr lang="ru-RU" dirty="0"/>
              <a:t>-кампании для реактивации кластера 1.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Назначить персональных менеджеров для 7 клиентов кластера 2.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Протестировать реферальную программу и премиум-подписку на небольшой группе кластера 3.</a:t>
            </a:r>
          </a:p>
          <a:p>
            <a:pPr>
              <a:buFont typeface="+mj-lt"/>
              <a:buAutoNum type="arabicPeriod"/>
            </a:pPr>
            <a:r>
              <a:rPr lang="ru-RU" dirty="0"/>
              <a:t>Через 3 месяца пересчитать RFM-метрики и оценить миграцию клиентов между сегментами.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9</a:t>
            </a:fld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C96ADAD-44C6-ECC8-9D28-8D68A6114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6096" y="2185606"/>
            <a:ext cx="3799931" cy="364883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800" i="1" dirty="0"/>
              <a:t>Оценка потенциального влияния</a:t>
            </a:r>
          </a:p>
          <a:p>
            <a:r>
              <a:rPr lang="ru-RU" b="1" i="1" dirty="0"/>
              <a:t>Бонусная программа для кластеров 0 и 3</a:t>
            </a:r>
            <a:r>
              <a:rPr lang="ru-RU" i="1" dirty="0"/>
              <a:t> → рост частоты покупок на 10–20%, увеличение среднего чека на 5–15%, прирост выручки от этих сегментов ≈ 8–12%.</a:t>
            </a:r>
          </a:p>
          <a:p>
            <a:r>
              <a:rPr lang="ru-RU" b="1" i="1" dirty="0" err="1"/>
              <a:t>Email</a:t>
            </a:r>
            <a:r>
              <a:rPr lang="ru-RU" b="1" i="1" dirty="0"/>
              <a:t>-реактивация кластера 1</a:t>
            </a:r>
            <a:r>
              <a:rPr lang="ru-RU" i="1" dirty="0"/>
              <a:t> → возврат 3–8% «спящих» клиентов при минимальных затратах, дополнительная выручка +1–3% от общего объёма.</a:t>
            </a:r>
          </a:p>
          <a:p>
            <a:r>
              <a:rPr lang="ru-RU" b="1" i="1" dirty="0"/>
              <a:t>Персональные менеджеры для 7 клиентов кластера 2</a:t>
            </a:r>
            <a:r>
              <a:rPr lang="ru-RU" i="1" dirty="0"/>
              <a:t> → предотвращение оттока критически важных VIP (удержание 95–100%), защита 3–7% общей выручки компании.</a:t>
            </a:r>
          </a:p>
          <a:p>
            <a:r>
              <a:rPr lang="ru-RU" b="1" i="1" dirty="0" err="1"/>
              <a:t>Рефералка</a:t>
            </a:r>
            <a:r>
              <a:rPr lang="ru-RU" b="1" i="1" dirty="0"/>
              <a:t> и премиум-подписка на части кластера 3</a:t>
            </a:r>
            <a:r>
              <a:rPr lang="ru-RU" i="1" dirty="0"/>
              <a:t> → привлечение новых клиентов с LTV выше среднего, создание регулярного дохода, потенциал +2–4% выручки после масштабирования.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0"/>
            <a:ext cx="5084063" cy="272770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173526"/>
            <a:ext cx="5715000" cy="2234642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1600" b="1" dirty="0">
                <a:solidFill>
                  <a:srgbClr val="FF0000"/>
                </a:solidFill>
              </a:rPr>
              <a:t>Итоги работы: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  Разработана система сегментации клиентов на основе RFM-анализа и алгоритмов кластеризации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  Получены 4 интерпретируемых сегмента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  Подготовлены конкретные бизнес-рекомендации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endParaRPr lang="ru-RU" sz="1600" b="1" dirty="0"/>
          </a:p>
          <a:p>
            <a:r>
              <a:rPr lang="ru-RU" sz="1600" i="1" dirty="0"/>
              <a:t>Значимость: результаты могут быть внедрены в CRM-систему компании для повышения эффективности продаж и лояльности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{56451112-A8A4-445F-A0F7-631352CA5F04}TF8a9b5915-b8c7-461e-8cdd-693d48b5e323138ae9a7_win32-fecfc327da1f</Template>
  <TotalTime>78</TotalTime>
  <Words>507</Words>
  <Application>Microsoft Office PowerPoint</Application>
  <PresentationFormat>Широкоэкранный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Times new Roman</vt:lpstr>
      <vt:lpstr>Пользовательская</vt:lpstr>
      <vt:lpstr>Анализ и сегментация клиентов с помощью алгоритмов кластеризации   </vt:lpstr>
      <vt:lpstr>Цель и задачи работы</vt:lpstr>
      <vt:lpstr>Описание датасета</vt:lpstr>
      <vt:lpstr>Первичный анализ данных (EDA)</vt:lpstr>
      <vt:lpstr>Предобработка данных Определение </vt:lpstr>
      <vt:lpstr>Визуализация кластеров </vt:lpstr>
      <vt:lpstr>Оценка качества кластеризации</vt:lpstr>
      <vt:lpstr>Описание сегментов клиентов</vt:lpstr>
      <vt:lpstr>Бизнес-рекомендации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Дарья Боднар</dc:creator>
  <cp:lastModifiedBy>Дарья Боднар</cp:lastModifiedBy>
  <cp:revision>3</cp:revision>
  <dcterms:created xsi:type="dcterms:W3CDTF">2026-06-07T10:46:12Z</dcterms:created>
  <dcterms:modified xsi:type="dcterms:W3CDTF">2026-06-07T12:04:41Z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